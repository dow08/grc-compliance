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400" b="1">
                <a:solidFill>
                  <a:srgbClr val="F1F5F9"/>
                </a:solidFill>
                <a:latin typeface="Trebuchet MS"/>
              </a:defRPr>
            </a:pPr>
            <a:r>
              <a:t>AUDIT GRC &amp; MATURITÉ SÉCURITÉ</a:t>
            </a:r>
          </a:p>
          <a:p>
            <a:pPr>
              <a:spcBef>
                <a:spcPts val="1500"/>
              </a:spcBef>
              <a:defRPr sz="2400">
                <a:solidFill>
                  <a:srgbClr val="028090"/>
                </a:solidFill>
                <a:latin typeface="Georgia"/>
              </a:defRPr>
            </a:pPr>
            <a:r>
              <a:t>Plan Stratégique Conjoint NIST CSF 2.0 &amp; RGPD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1F5F9"/>
                </a:solidFill>
                <a:latin typeface="Calibri"/>
              </a:defRPr>
            </a:pPr>
            <a:r>
              <a:t>Présenté par : Dorian Poncelet</a:t>
            </a:r>
          </a:p>
          <a:p>
            <a:pPr>
              <a:spcBef>
                <a:spcPts val="5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Conseiller externe en Cybersécurité | Dossier Syntaris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128"/>
                </a:solidFill>
                <a:latin typeface="Trebuchet MS"/>
              </a:defRPr>
            </a:pPr>
            <a:r>
              <a:t>Contexte de l'Audit : Syntaris 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28090"/>
                </a:solidFill>
                <a:latin typeface="Trebuchet MS"/>
              </a:defRPr>
            </a:pPr>
            <a:r>
              <a:t>PROFIL DE L'ORGANISATION</a:t>
            </a:r>
          </a:p>
          <a:p>
            <a:pPr>
              <a:spcBef>
                <a:spcPts val="15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• Activité : Fintech de paiement en ligne et de vérification d'identité numérique (KYC).</a:t>
            </a:r>
            <a:br/>
            <a:br/>
            <a:r>
              <a:t>• Envergure : Croissance rapide, opérations transatlantiques (Europe &amp; États-Unis).</a:t>
            </a:r>
            <a:br/>
            <a:br/>
            <a:r>
              <a:t>• Architecture cible : Hybride Cloud-Local. Plateforme transactionnelle sur AWS/Azure ; postes administratifs et corporatifs sur 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37160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1112" y="155448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28090"/>
                </a:solidFill>
                <a:latin typeface="Trebuchet MS"/>
              </a:defRPr>
            </a:pPr>
            <a:r>
              <a:t>ENJEUX STRATÉGIQUES &amp; EXIGENCES</a:t>
            </a:r>
          </a:p>
          <a:p>
            <a:pPr>
              <a:spcBef>
                <a:spcPts val="15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• Régulations : Soumis de plein droit au RGPD européen et aux exigences financières PCI-DSS pour le paiement.</a:t>
            </a:r>
            <a:br/>
            <a:br/>
            <a:r>
              <a:t>• Exigence Marché : Les banques et marchands partenaires exigent des preuves solides d'une gouvernance cyber mature (NIST CSF 2.0) avant de contractualiser.</a:t>
            </a:r>
            <a:br/>
            <a:br/>
            <a:r>
              <a:t>• Objectif : Structurer une trajectoire réaliste de remédiation.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128"/>
                </a:solidFill>
                <a:latin typeface="Trebuchet MS"/>
              </a:defRPr>
            </a:pPr>
            <a:r>
              <a:t>Cartographie des Actifs &amp; Données Critiques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3291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2926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28090"/>
                </a:solidFill>
                <a:latin typeface="Trebuchet MS"/>
              </a:defRPr>
            </a:pPr>
            <a:r>
              <a:t>DONNÉES FINANCIÈRES</a:t>
            </a:r>
          </a:p>
          <a:p>
            <a:pPr>
              <a:spcBef>
                <a:spcPts val="500"/>
              </a:spcBef>
              <a:defRPr sz="1300" i="1">
                <a:solidFill>
                  <a:srgbClr val="64748B"/>
                </a:solidFill>
                <a:latin typeface="Georgia"/>
              </a:defRPr>
            </a:pPr>
            <a:r>
              <a:t>Conformité PCI-DSS</a:t>
            </a:r>
          </a:p>
          <a:p>
            <a:pPr>
              <a:spcBef>
                <a:spcPts val="20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Numéros de cartes (PAN)</a:t>
            </a:r>
            <a:br/>
            <a:r>
              <a:t>• Historique des transactions</a:t>
            </a:r>
            <a:br/>
            <a:r>
              <a:t>• Coordonnées bancaires commerçants</a:t>
            </a:r>
            <a:br/>
            <a:br/>
            <a:r>
              <a:t>Exige un chiffrement de bout en bout et une isolation stricte des bases de données transactionnelles.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43984" y="1371600"/>
            <a:ext cx="3291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26864" y="1554480"/>
            <a:ext cx="2926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28090"/>
                </a:solidFill>
                <a:latin typeface="Trebuchet MS"/>
              </a:defRPr>
            </a:pPr>
            <a:r>
              <a:t>DONNÉES BIOMÉTRIQUES</a:t>
            </a:r>
          </a:p>
          <a:p>
            <a:pPr>
              <a:spcBef>
                <a:spcPts val="500"/>
              </a:spcBef>
              <a:defRPr sz="1300" i="1">
                <a:solidFill>
                  <a:srgbClr val="64748B"/>
                </a:solidFill>
                <a:latin typeface="Georgia"/>
              </a:defRPr>
            </a:pPr>
            <a:r>
              <a:t>RGPD Article 9 (Sensible)</a:t>
            </a:r>
          </a:p>
          <a:p>
            <a:pPr>
              <a:spcBef>
                <a:spcPts val="20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Scans de passeports/ID</a:t>
            </a:r>
            <a:br/>
            <a:r>
              <a:t>• Gabarits de reconnaissance faciale pour vérification KYC</a:t>
            </a:r>
            <a:br/>
            <a:br/>
            <a:r>
              <a:t>La collecte de ces données sensibles rend strictement obligatoire la désignation d'un DPO et une Analyse d'Impact (AIPD).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2168" y="1371600"/>
            <a:ext cx="3291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554480"/>
            <a:ext cx="2926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28090"/>
                </a:solidFill>
                <a:latin typeface="Trebuchet MS"/>
              </a:defRPr>
            </a:pPr>
            <a:r>
              <a:t>PROPRIÉTÉ &amp; SYSTÈMES</a:t>
            </a:r>
          </a:p>
          <a:p>
            <a:pPr>
              <a:spcBef>
                <a:spcPts val="500"/>
              </a:spcBef>
              <a:defRPr sz="1300" i="1">
                <a:solidFill>
                  <a:srgbClr val="64748B"/>
                </a:solidFill>
                <a:latin typeface="Georgia"/>
              </a:defRPr>
            </a:pPr>
            <a:r>
              <a:t>Actifs Intellectuels</a:t>
            </a:r>
          </a:p>
          <a:p>
            <a:pPr>
              <a:spcBef>
                <a:spcPts val="20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Code source des APIs de paiement</a:t>
            </a:r>
            <a:br/>
            <a:r>
              <a:t>• Clés API et credentials Cloud</a:t>
            </a:r>
            <a:br/>
            <a:r>
              <a:t>• Bases d'identités Active Directory</a:t>
            </a:r>
            <a:br/>
            <a:br/>
            <a:r>
              <a:t>Nécessite des pipelines de déploiement sécurisés (CI/CD) et une authentification forte pour les développeurs.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128"/>
                </a:solidFill>
                <a:latin typeface="Trebuchet MS"/>
              </a:defRPr>
            </a:pPr>
            <a:r>
              <a:t>Top 3 des Risques d'Entreprise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0817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914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96167"/>
                </a:solidFill>
                <a:latin typeface="Trebuchet M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08760"/>
            <a:ext cx="9326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A1128"/>
                </a:solidFill>
                <a:latin typeface="Trebuchet MS"/>
              </a:defRPr>
            </a:pPr>
            <a:r>
              <a:t>FUITE DE LA BASE KYC ET BIOMÉTRIQUE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Le stockage indéfini de passeports et empreintes faciales sans isolation forte expose Syntaris à un piratage massif.</a:t>
            </a:r>
            <a:br/>
            <a:r>
              <a:t>Impact financier direct : Amendes CNIL (jusqu'à 4% du CA mondial - Art. 83), poursuites judiciaires collectives, perte totale de confiance commerciale.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017520"/>
            <a:ext cx="10817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154679"/>
            <a:ext cx="914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96167"/>
                </a:solidFill>
                <a:latin typeface="Trebuchet M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54679"/>
            <a:ext cx="9326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A1128"/>
                </a:solidFill>
                <a:latin typeface="Trebuchet MS"/>
              </a:defRPr>
            </a:pPr>
            <a:r>
              <a:t>INDISPONIBILITÉ DU SERVICE DE PAIEMENT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Une attaque DDoS d'envergure ou un rançongiciel (ransomware) paralyse le moteur de paiement hébergé sur le Cloud public.</a:t>
            </a:r>
            <a:br/>
            <a:r>
              <a:t>Impact opérationnel immédiat : Rupture des engagements de service (SLA) avec les commerçants, pertes de transactions sèches par minute.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663440"/>
            <a:ext cx="10817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00600"/>
            <a:ext cx="914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96167"/>
                </a:solidFill>
                <a:latin typeface="Trebuchet M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800600"/>
            <a:ext cx="9326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A1128"/>
                </a:solidFill>
                <a:latin typeface="Trebuchet MS"/>
              </a:defRPr>
            </a:pPr>
            <a:r>
              <a:t>PIRATAGE DE L'API DE PAIEMENT (SUPPLY CHAIN)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La compromission du poste d'un développeur permet l'injection de code espion (type Magecart) au sein même du code des transactions.</a:t>
            </a:r>
            <a:br/>
            <a:r>
              <a:t>Impact réputationnel fatal : Vol des numéros de carte de paiement des clients finaux en temps réel lors du traitement des paiements.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128"/>
                </a:solidFill>
                <a:latin typeface="Trebuchet MS"/>
              </a:defRPr>
            </a:pPr>
            <a:r>
              <a:t>Maturité NIST CSF 2.0 : Profil Actuel vs Cible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371600"/>
          <a:ext cx="108173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1371600"/>
                <a:gridCol w="1371600"/>
                <a:gridCol w="1371600"/>
                <a:gridCol w="4572000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Trebuchet MS"/>
                        </a:defRPr>
                      </a:pPr>
                      <a:r>
                        <a:t>Fonction NIST CSF 2.0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Trebuchet MS"/>
                        </a:defRPr>
                      </a:pPr>
                      <a:r>
                        <a:t>Score Actuel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Trebuchet MS"/>
                        </a:defRPr>
                      </a:pPr>
                      <a:r>
                        <a:t>Score Cible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Trebuchet MS"/>
                        </a:defRPr>
                      </a:pPr>
                      <a:r>
                        <a:t>Écart (Gap)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Trebuchet MS"/>
                        </a:defRPr>
                      </a:pPr>
                      <a:r>
                        <a:t>Observation majeure de l'Audit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Gouverner (Govern - GV)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1.50 /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3.67 /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96167"/>
                          </a:solidFill>
                          <a:latin typeface="Calibri"/>
                        </a:defRPr>
                      </a:pPr>
                      <a:r>
                        <a:t>+2.17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Pas de Politique de Sécurité (PSSI) globale formulée par la direction.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Identifier (Identify - 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1.50 /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3.75 /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96167"/>
                          </a:solidFill>
                          <a:latin typeface="Calibri"/>
                        </a:defRPr>
                      </a:pPr>
                      <a:r>
                        <a:t>+2.25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Aucune cartographie documentée des flux de données de paiement et KYC.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Protéger (Protect - PR)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1.83 /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4.00 /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96167"/>
                          </a:solidFill>
                          <a:latin typeface="Calibri"/>
                        </a:defRPr>
                      </a:pPr>
                      <a:r>
                        <a:t>+2.17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HTTPS présent mais MFA absent sur les consoles et postes des développeurs.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Détecter (Detect - 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1.50 /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4.00 /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96167"/>
                          </a:solidFill>
                          <a:latin typeface="Calibri"/>
                        </a:defRPr>
                      </a:pPr>
                      <a:r>
                        <a:t>+2.50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Logs cloud existants mais pas de SIEM ni d'équipe SOC pour lever les doutes.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Répondre (Respond - 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1.00 /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4.00 /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96167"/>
                          </a:solidFill>
                          <a:latin typeface="Calibri"/>
                        </a:defRPr>
                      </a:pPr>
                      <a:r>
                        <a:t>+3.00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ZÉRO PLAYBOOK : Aucun plan de réponse en cas d'intrusion ou fuite (Art 33).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Récupérer (Recover - RC)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1.00 /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4.00 /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96167"/>
                          </a:solidFill>
                          <a:latin typeface="Calibri"/>
                        </a:defRPr>
                      </a:pPr>
                      <a:r>
                        <a:t>+3.00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ZÉRO PCA/PRA : Aucun test régulier de restauration des sauvegardes cloud.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SYNTHÈSE GLOBALE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1.50 / 4.0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3.86 / 4.0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96167"/>
                          </a:solidFill>
                          <a:latin typeface="Calibri"/>
                        </a:defRPr>
                      </a:pPr>
                      <a:r>
                        <a:t>+2.36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Maturité faible (Tier 1/2) exigeant de profonds ajustements de gouvernance.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128"/>
                </a:solidFill>
                <a:latin typeface="Trebuchet MS"/>
              </a:defRPr>
            </a:pPr>
            <a:r>
              <a:t>Audit RGPD : Les Écarts Critiques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468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21945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96167"/>
                </a:solidFill>
                <a:latin typeface="Trebuchet MS"/>
              </a:defRPr>
            </a:pPr>
            <a:r>
              <a:t>Art 5</a:t>
            </a:r>
          </a:p>
          <a:p>
            <a:pPr>
              <a:spcBef>
                <a:spcPts val="500"/>
              </a:spcBef>
              <a:defRPr sz="1400" b="1">
                <a:solidFill>
                  <a:srgbClr val="0A1128"/>
                </a:solidFill>
                <a:latin typeface="Trebuchet MS"/>
              </a:defRPr>
            </a:pPr>
            <a:r>
              <a:t>Minimisation &amp; Conservation</a:t>
            </a:r>
          </a:p>
          <a:p>
            <a:pPr>
              <a:spcBef>
                <a:spcPts val="15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CONSTAT D'AUDIT :</a:t>
            </a:r>
            <a:br/>
            <a:r>
              <a:t>Les passeports scannés pour la validation KYC biométrique sont conservés indéfiniment en base de données.</a:t>
            </a:r>
          </a:p>
          <a:p>
            <a:pPr>
              <a:spcBef>
                <a:spcPts val="1000"/>
              </a:spcBef>
              <a:defRPr sz="1100" b="1">
                <a:solidFill>
                  <a:srgbClr val="028090"/>
                </a:solidFill>
                <a:latin typeface="Calibri"/>
              </a:defRPr>
            </a:pPr>
            <a:r>
              <a:t>REMÉDIATION CONCRÈTE :</a:t>
            </a:r>
            <a:br/>
            <a:r>
              <a:t>Purge automatique de l'image du passeport sous 30 jours ; conservation exclusive du jeton de validation numérique.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65576" y="1371600"/>
            <a:ext cx="2468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2736" y="1554480"/>
            <a:ext cx="21945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96167"/>
                </a:solidFill>
                <a:latin typeface="Trebuchet MS"/>
              </a:defRPr>
            </a:pPr>
            <a:r>
              <a:t>Art 25</a:t>
            </a:r>
          </a:p>
          <a:p>
            <a:pPr>
              <a:spcBef>
                <a:spcPts val="500"/>
              </a:spcBef>
              <a:defRPr sz="1400" b="1">
                <a:solidFill>
                  <a:srgbClr val="0A1128"/>
                </a:solidFill>
                <a:latin typeface="Trebuchet MS"/>
              </a:defRPr>
            </a:pPr>
            <a:r>
              <a:t>Privacy by Design &amp; Default</a:t>
            </a:r>
          </a:p>
          <a:p>
            <a:pPr>
              <a:spcBef>
                <a:spcPts val="15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CONSTAT D'AUDIT :</a:t>
            </a:r>
            <a:br/>
            <a:r>
              <a:t>Les développeurs utilisent de vraies données clients dans les environnements de test locaux.</a:t>
            </a:r>
          </a:p>
          <a:p>
            <a:pPr>
              <a:spcBef>
                <a:spcPts val="1000"/>
              </a:spcBef>
              <a:defRPr sz="1100" b="1">
                <a:solidFill>
                  <a:srgbClr val="028090"/>
                </a:solidFill>
                <a:latin typeface="Calibri"/>
              </a:defRPr>
            </a:pPr>
            <a:r>
              <a:t>REMÉDIATION CONCRÈTE :</a:t>
            </a:r>
            <a:br/>
            <a:r>
              <a:t>Masquage de données et génération de jeux de tests synthétiques et fictifs par défaut pour les équipes dev.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371600"/>
            <a:ext cx="2468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54480"/>
            <a:ext cx="21945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96167"/>
                </a:solidFill>
                <a:latin typeface="Trebuchet MS"/>
              </a:defRPr>
            </a:pPr>
            <a:r>
              <a:t>Art 32</a:t>
            </a:r>
          </a:p>
          <a:p>
            <a:pPr>
              <a:spcBef>
                <a:spcPts val="500"/>
              </a:spcBef>
              <a:defRPr sz="1400" b="1">
                <a:solidFill>
                  <a:srgbClr val="0A1128"/>
                </a:solidFill>
                <a:latin typeface="Trebuchet MS"/>
              </a:defRPr>
            </a:pPr>
            <a:r>
              <a:t>Sécurité des Traitements</a:t>
            </a:r>
          </a:p>
          <a:p>
            <a:pPr>
              <a:spcBef>
                <a:spcPts val="15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CONSTAT D'AUDIT :</a:t>
            </a:r>
            <a:br/>
            <a:r>
              <a:t>Le MFA n'est pas obligatoire sur les dépôts de code (GitHub) ; bases de données cloud non isolées.</a:t>
            </a:r>
          </a:p>
          <a:p>
            <a:pPr>
              <a:spcBef>
                <a:spcPts val="1000"/>
              </a:spcBef>
              <a:defRPr sz="1100" b="1">
                <a:solidFill>
                  <a:srgbClr val="028090"/>
                </a:solidFill>
                <a:latin typeface="Calibri"/>
              </a:defRPr>
            </a:pPr>
            <a:r>
              <a:t>REMÉDIATION CONCRÈTE :</a:t>
            </a:r>
            <a:br/>
            <a:r>
              <a:t>Obligation du MFA, intégration de scans de vulnérabilités applicatifs (SAST) dans la pipeline CI/CD.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25128" y="1371600"/>
            <a:ext cx="2468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62288" y="1554480"/>
            <a:ext cx="21945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96167"/>
                </a:solidFill>
                <a:latin typeface="Trebuchet MS"/>
              </a:defRPr>
            </a:pPr>
            <a:r>
              <a:t>Art 33</a:t>
            </a:r>
          </a:p>
          <a:p>
            <a:pPr>
              <a:spcBef>
                <a:spcPts val="500"/>
              </a:spcBef>
              <a:defRPr sz="1400" b="1">
                <a:solidFill>
                  <a:srgbClr val="0A1128"/>
                </a:solidFill>
                <a:latin typeface="Trebuchet MS"/>
              </a:defRPr>
            </a:pPr>
            <a:r>
              <a:t>Notification sous 72 Heures</a:t>
            </a:r>
          </a:p>
          <a:p>
            <a:pPr>
              <a:spcBef>
                <a:spcPts val="15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CONSTAT D'AUDIT :</a:t>
            </a:r>
            <a:br/>
            <a:r>
              <a:t>Aucun DPO n'est nommé et aucune procédure de déclaration de fuite de données n'existe pour la CNIL.</a:t>
            </a:r>
          </a:p>
          <a:p>
            <a:pPr>
              <a:spcBef>
                <a:spcPts val="1000"/>
              </a:spcBef>
              <a:defRPr sz="1100" b="1">
                <a:solidFill>
                  <a:srgbClr val="028090"/>
                </a:solidFill>
                <a:latin typeface="Calibri"/>
              </a:defRPr>
            </a:pPr>
            <a:r>
              <a:t>REMÉDIATION CONCRÈTE :</a:t>
            </a:r>
            <a:br/>
            <a:r>
              <a:t>Nomination d'un DPO et écriture immédiate d'un protocole d'escalade d'incident d'intrusion.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128"/>
                </a:solidFill>
                <a:latin typeface="Trebuchet MS"/>
              </a:defRPr>
            </a:pPr>
            <a:r>
              <a:t>Roadmap Priorité 1 : Quick Wins (0 - 30 Jours)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081735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01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96167"/>
                </a:solidFill>
                <a:latin typeface="Trebuchet MS"/>
              </a:defRPr>
            </a:pPr>
            <a:r>
              <a:t>REC-01 : APPOINTEMENT D'UN DPO &amp; SÉCURISATION DU PLAN D'URGENCE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Obligation légale : Rendre Syntaris conforme de toute urgence aux obligations de DPO (Art 37 RGPD) face aux volumes biométriques.</a:t>
            </a:r>
            <a:br/>
            <a:r>
              <a:t>• Protocole 72H : Rédiger un document simple (playbook) listant les étapes d'escalade d'une intrusion et pré-remplissant le document de déclaration officielle CNIL en cas de fuite de données.</a:t>
            </a:r>
            <a:br/>
            <a:r>
              <a:t>• Responsable : Service Juridique / CEO.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840480"/>
            <a:ext cx="1081735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01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96167"/>
                </a:solidFill>
                <a:latin typeface="Trebuchet MS"/>
              </a:defRPr>
            </a:pPr>
            <a:r>
              <a:t>REC-02 : MULTI-FACTEUR (MFA) SYSTEMATIQUE ET EXCLUSIF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Cloud public : Bloquer l'accès aux consoles de management AWS/Azure de production par authentification forte MFA obligatoire.</a:t>
            </a:r>
            <a:br/>
            <a:r>
              <a:t>• Code source : Forcer l'utilisation de clés MFA matérielles pour l'ensemble des développeurs de la fintech accédant aux bases GitHub.</a:t>
            </a:r>
            <a:br/>
            <a:r>
              <a:t>• Responsable : Équipe DevOps / Administrateur des Systèmes.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128"/>
                </a:solidFill>
                <a:latin typeface="Trebuchet MS"/>
              </a:defRPr>
            </a:pPr>
            <a:r>
              <a:t>Roadmap Priorités 2 &amp; 3 : Chantiers à Moyen Terme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28090"/>
                </a:solidFill>
                <a:latin typeface="Trebuchet MS"/>
              </a:defRPr>
            </a:pPr>
            <a:r>
              <a:t>PRIORITÉ 2 : ARCHITECTURE TECHNIQUE (30-90 Jours)</a:t>
            </a:r>
          </a:p>
          <a:p>
            <a:pPr>
              <a:spcBef>
                <a:spcPts val="15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REC-03 : Tokenisation PCI-DSS &amp; Données Fictives (Art 25)</a:t>
            </a:r>
            <a:br/>
            <a:r>
              <a:t>  Intégrer une passerelle de tokenisation pour sortir les données de cartes des bases de données et automatiser le masquage pour les tests dev.</a:t>
            </a:r>
            <a:br/>
            <a:br/>
            <a:r>
              <a:t>• REC-04 : Chiffrement AES-256 &amp; Sauvegardes Froides</a:t>
            </a:r>
            <a:br/>
            <a:r>
              <a:t>  Chiffrer au repos l'ensemble des bases d'identité cloud et conserver un jeu de sauvegardes régulier déconnecté et immuable face aux ransomwares.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37160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1112" y="155448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28090"/>
                </a:solidFill>
                <a:latin typeface="Trebuchet MS"/>
              </a:defRPr>
            </a:pPr>
            <a:r>
              <a:t>PRIORITÉ 3 : PILOTAGE &amp; CULTURE (90-180 Jours)</a:t>
            </a:r>
          </a:p>
          <a:p>
            <a:pPr>
              <a:spcBef>
                <a:spcPts val="15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REC-05 : Rédaction de la PSSI &amp; Charte Informatique</a:t>
            </a:r>
            <a:br/>
            <a:r>
              <a:t>  Documenter l'ensemble des règles de sécurité imposées par la fintech. Imposer la signature électronique de la charte utilisateur aux salariés.</a:t>
            </a:r>
            <a:br/>
            <a:br/>
            <a:r>
              <a:t>• REC-06 : Surveillance 24/7 par SOC Managé</a:t>
            </a:r>
            <a:br/>
            <a:r>
              <a:t>  Centraliser l'ensemble des logs de transactions dans un SIEM et externaliser la surveillance de sécurité en temps réel à un SOC managé tiers.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Trebuchet MS"/>
              </a:defRPr>
            </a:pPr>
            <a:r>
              <a:t>SÉCURITÉ CYBER ET GRC : UN COMPROMIS MAJEUR</a:t>
            </a:r>
          </a:p>
          <a:p>
            <a:pPr>
              <a:spcBef>
                <a:spcPts val="2500"/>
              </a:spcBef>
              <a:defRPr sz="1600">
                <a:solidFill>
                  <a:srgbClr val="F1F5F9"/>
                </a:solidFill>
                <a:latin typeface="Georgia"/>
              </a:defRPr>
            </a:pPr>
            <a:r>
              <a:t>• Conformité comme levier d'affaires : Remplir les exigences NIST CSF 2.0 est un passeport obligatoire pour contractualiser avec les institutions bancaires et grands marchands.</a:t>
            </a:r>
            <a:br/>
            <a:br/>
            <a:r>
              <a:t>• Sécurité active de la donnée : Éviter le sur-stockage biométrique et automatiser la conformité par des scripts techniques protège Syntaris des risques financiers les plus critiques.</a:t>
            </a:r>
            <a:br/>
            <a:br/>
            <a:r>
              <a:t>• Démarche GRC technique : Démontrer la sécurité par des données structurées et du code apporte une valeur immense et différenciante.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090"/>
                </a:solidFill>
                <a:latin typeface="Trebuchet MS"/>
              </a:defRPr>
            </a:pPr>
            <a:r>
              <a:t>Merci pour votre attention. Questions &amp; Échanges.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